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Sanctify story: 13+ years, Vasco/South Goa, award-winning, full-service, results-driven.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cover the full journey from brand identity through website to demand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Credibility markers pulled from the website. Numbers are the agency's stated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0D18"/>
              </a:gs>
              <a:gs pos="100000">
                <a:srgbClr val="282E3A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57055" y="-2011680"/>
            <a:ext cx="4754880" cy="475488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094415" y="2103120"/>
            <a:ext cx="1371600" cy="1371600"/>
          </a:xfrm>
          <a:prstGeom prst="ellipse">
            <a:avLst/>
          </a:prstGeom>
          <a:solidFill>
            <a:srgbClr val="7B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868680"/>
            <a:ext cx="3072384" cy="658368"/>
          </a:xfrm>
          <a:prstGeom prst="roundRect">
            <a:avLst>
              <a:gd name="adj" fmla="val 50000"/>
            </a:avLst>
          </a:prstGeom>
          <a:solidFill>
            <a:srgbClr val="323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DIGITAL MARKETING AGENCY · GOA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8778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SANCTIFY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4160520"/>
            <a:ext cx="1280160" cy="10058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EFEFEF"/>
                </a:solidFill>
                <a:latin typeface="Calibri"/>
              </a:rPr>
              <a:t>Award-winning Advertising &amp; Digital Marketing Agency in Goa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5897880"/>
            <a:ext cx="109728" cy="10972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3272" y="5897880"/>
            <a:ext cx="109728" cy="10972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43584" y="5897880"/>
            <a:ext cx="109728" cy="10972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1135" y="5852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0" i="0">
                <a:solidFill>
                  <a:srgbClr val="E5E5E5"/>
                </a:solidFill>
                <a:latin typeface="Calibri"/>
              </a:rPr>
              <a:t>www.sanctify.in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035765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What's inside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79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4F8C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7451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E6ECF5"/>
                </a:solidFill>
                <a:latin typeface="Calibri"/>
              </a:rPr>
              <a:t>Who we 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783080" y="2724911"/>
            <a:ext cx="3901287" cy="9525"/>
          </a:xfrm>
          <a:prstGeom prst="rect">
            <a:avLst/>
          </a:prstGeom>
          <a:solidFill>
            <a:srgbClr val="C2C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8035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4F8C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92607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E6ECF5"/>
                </a:solidFill>
                <a:latin typeface="Calibri"/>
              </a:rPr>
              <a:t>What we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3776471"/>
            <a:ext cx="3901287" cy="9525"/>
          </a:xfrm>
          <a:prstGeom prst="rect">
            <a:avLst/>
          </a:prstGeom>
          <a:solidFill>
            <a:srgbClr val="C2C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93191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4F8C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97763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E6ECF5"/>
                </a:solidFill>
                <a:latin typeface="Calibri"/>
              </a:rPr>
              <a:t>Why Sanctify — results &amp; reach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4828031"/>
            <a:ext cx="3901287" cy="9525"/>
          </a:xfrm>
          <a:prstGeom prst="rect">
            <a:avLst/>
          </a:prstGeom>
          <a:solidFill>
            <a:srgbClr val="C2C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4447" y="182879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4F8CFF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87451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E6ECF5"/>
                </a:solidFill>
                <a:latin typeface="Calibri"/>
              </a:rPr>
              <a:t>Graphic design portfolio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4567" y="2724911"/>
            <a:ext cx="3901287" cy="9525"/>
          </a:xfrm>
          <a:prstGeom prst="rect">
            <a:avLst/>
          </a:prstGeom>
          <a:solidFill>
            <a:srgbClr val="C2C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447" y="288035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4F8CFF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4567" y="292607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E6ECF5"/>
                </a:solidFill>
                <a:latin typeface="Calibri"/>
              </a:rPr>
              <a:t>What our clients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4567" y="3776471"/>
            <a:ext cx="3901287" cy="9525"/>
          </a:xfrm>
          <a:prstGeom prst="rect">
            <a:avLst/>
          </a:prstGeom>
          <a:solidFill>
            <a:srgbClr val="C2C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447" y="3931919"/>
            <a:ext cx="1005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4F8CFF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4567" y="3977639"/>
            <a:ext cx="408416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E6ECF5"/>
                </a:solidFill>
                <a:latin typeface="Calibri"/>
              </a:rPr>
              <a:t>Let's work together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84567" y="4828031"/>
            <a:ext cx="3901287" cy="9525"/>
          </a:xfrm>
          <a:prstGeom prst="rect">
            <a:avLst/>
          </a:prstGeom>
          <a:solidFill>
            <a:srgbClr val="C2C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02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4335" y="0"/>
            <a:ext cx="1737360" cy="14630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Who we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35024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243584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AA7BD"/>
                </a:solidFill>
                <a:latin typeface="Calibri"/>
              </a:rPr>
              <a:t>Vasco, South Goa ·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391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5024" y="19476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Established  </a:t>
            </a:r>
            <a:r>
              <a:rPr sz="2000" b="0">
                <a:solidFill>
                  <a:srgbClr val="E6ECF5"/>
                </a:solidFill>
                <a:latin typeface="Calibri"/>
              </a:rPr>
              <a:t>An award-winning advertising &amp; digital marketing agency serving Goa for over 13 years.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535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5024" y="28620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One partner  </a:t>
            </a:r>
            <a:r>
              <a:rPr sz="2000" b="0">
                <a:solidFill>
                  <a:srgbClr val="E6ECF5"/>
                </a:solidFill>
                <a:latin typeface="Calibri"/>
              </a:rPr>
              <a:t>A full suite of services under one roof — strategy, creative, web and performance.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679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37764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Measurable  </a:t>
            </a:r>
            <a:r>
              <a:rPr sz="2000" b="0">
                <a:solidFill>
                  <a:srgbClr val="E6ECF5"/>
                </a:solidFill>
                <a:latin typeface="Calibri"/>
              </a:rPr>
              <a:t>A competitive response rate and quantifiable results set us apart.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823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5024" y="46908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Creative  </a:t>
            </a:r>
            <a:r>
              <a:rPr sz="2000" b="0">
                <a:solidFill>
                  <a:srgbClr val="E6ECF5"/>
                </a:solidFill>
                <a:latin typeface="Calibri"/>
              </a:rPr>
              <a:t>An 'Amaze Creation Agency' — creative ideas paired with strategic execution.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90E1A"/>
              </a:gs>
              <a:gs pos="100000">
                <a:srgbClr val="323743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39535" y="182880"/>
            <a:ext cx="6400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0" b="1" i="0">
                <a:solidFill>
                  <a:srgbClr val="232936"/>
                </a:solidFill>
                <a:latin typeface="Calibri"/>
              </a:rPr>
              <a:t>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1100937" cy="658368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What we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434840"/>
            <a:ext cx="1280160" cy="10058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954301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A full-suite agency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044287" cy="4251961"/>
          </a:xfrm>
          <a:prstGeom prst="roundRect">
            <a:avLst>
              <a:gd name="adj" fmla="val 5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044287" cy="14630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88720" y="2450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00784" y="2359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Digital  </a:t>
            </a:r>
            <a:r>
              <a:rPr sz="2000" b="0">
                <a:solidFill>
                  <a:srgbClr val="E6ECF5"/>
                </a:solidFill>
                <a:latin typeface="Calibri"/>
              </a:rPr>
              <a:t>Performance marketing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022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0784" y="2930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Search Engine Optimization (SEO)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593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0784" y="3502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Search Engine Marketing / PPC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4165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00784" y="4073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Social Media Marketing (SMM)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4736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B6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00784" y="4645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Google, Meta &amp; LinkedIn Ads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5308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00784" y="5216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Email marketing &amp; Bulk SMS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1874519"/>
            <a:ext cx="5044287" cy="4251961"/>
          </a:xfrm>
          <a:prstGeom prst="roundRect">
            <a:avLst>
              <a:gd name="adj" fmla="val 5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24447" y="1874519"/>
            <a:ext cx="5044287" cy="146304"/>
          </a:xfrm>
          <a:prstGeom prst="roundRect">
            <a:avLst>
              <a:gd name="adj" fmla="val 50000"/>
            </a:avLst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90207" y="2450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2271" y="2359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Brand  </a:t>
            </a:r>
            <a:r>
              <a:rPr sz="2000" b="0">
                <a:solidFill>
                  <a:srgbClr val="E6ECF5"/>
                </a:solidFill>
                <a:latin typeface="Calibri"/>
              </a:rPr>
              <a:t>Creative &amp; web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90207" y="3022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2271" y="2930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Website design &amp; development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90207" y="3593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2271" y="3502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Logo, branding &amp; identity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90207" y="4165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2271" y="4073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Graphic design &amp; collateral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90207" y="47365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B69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2271" y="46451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Online classifieds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90207" y="5308091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2271" y="5216651"/>
            <a:ext cx="3800703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000" b="1">
                <a:solidFill>
                  <a:srgbClr val="E6ECF5"/>
                </a:solidFill>
                <a:latin typeface="Calibri"/>
              </a:rPr>
              <a:t>Newspaper &amp; outdoor ads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05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524554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Why Sanctify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AA7BD"/>
                </a:solidFill>
                <a:latin typeface="Calibri"/>
              </a:rPr>
              <a:t>Track record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97480"/>
            <a:ext cx="457200" cy="9144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4F8CFF"/>
                </a:solidFill>
                <a:latin typeface="Calibri"/>
              </a:rPr>
              <a:t>4.8/5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6ECF5"/>
                </a:solidFill>
                <a:latin typeface="Calibri"/>
              </a:rPr>
              <a:t>Top-rated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128 reviews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50843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70883" y="2697480"/>
            <a:ext cx="457200" cy="91440"/>
          </a:xfrm>
          <a:prstGeom prst="rect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5163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38D9A9"/>
                </a:solidFill>
                <a:latin typeface="Calibri"/>
              </a:rPr>
              <a:t>13+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3451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6ECF5"/>
                </a:solidFill>
                <a:latin typeface="Calibri"/>
              </a:rPr>
              <a:t>Years of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3451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serving Goa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98767" y="2697480"/>
            <a:ext cx="45720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F6B6B"/>
                </a:solidFill>
                <a:latin typeface="Calibri"/>
              </a:rPr>
              <a:t>2600+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1335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6ECF5"/>
                </a:solidFill>
                <a:latin typeface="Calibri"/>
              </a:rPr>
              <a:t>Daily website visitors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1335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sanctify.in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611" y="2331720"/>
            <a:ext cx="2362123" cy="2834640"/>
          </a:xfrm>
          <a:prstGeom prst="roundRect">
            <a:avLst>
              <a:gd name="adj" fmla="val 7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651" y="2697480"/>
            <a:ext cx="457200" cy="9144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926080"/>
            <a:ext cx="181348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FD166"/>
                </a:solidFill>
                <a:latin typeface="Calibri"/>
              </a:rPr>
              <a:t>100+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9219" y="4114800"/>
            <a:ext cx="18134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6ECF5"/>
                </a:solidFill>
                <a:latin typeface="Calibri"/>
              </a:rPr>
              <a:t>Websites developed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572000"/>
            <a:ext cx="1813483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and counting</a:t>
            </a:r>
          </a:p>
        </p:txBody>
      </p:sp>
      <p:sp>
        <p:nvSpPr>
          <p:cNvPr id="26" name="Oval 25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06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524554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Search visibility we deliver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AA7BD"/>
                </a:solidFill>
                <a:latin typeface="Calibri"/>
              </a:rPr>
              <a:t>Organic reach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271418" cy="2834640"/>
          </a:xfrm>
          <a:prstGeom prst="roundRect">
            <a:avLst>
              <a:gd name="adj" fmla="val 7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97480"/>
            <a:ext cx="457200" cy="9144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272277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4F8CFF"/>
                </a:solidFill>
                <a:latin typeface="Calibri"/>
              </a:rPr>
              <a:t>1200+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14800"/>
            <a:ext cx="27227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6ECF5"/>
                </a:solidFill>
                <a:latin typeface="Calibri"/>
              </a:rPr>
              <a:t>URLs indexed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572000"/>
            <a:ext cx="272277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across the site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0138" y="2331720"/>
            <a:ext cx="3271418" cy="2834640"/>
          </a:xfrm>
          <a:prstGeom prst="roundRect">
            <a:avLst>
              <a:gd name="adj" fmla="val 7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80178" y="2697480"/>
            <a:ext cx="457200" cy="91440"/>
          </a:xfrm>
          <a:prstGeom prst="rect">
            <a:avLst/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4458" y="2926080"/>
            <a:ext cx="272277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38D9A9"/>
                </a:solidFill>
                <a:latin typeface="Calibri"/>
              </a:rPr>
              <a:t>800+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2746" y="4114800"/>
            <a:ext cx="27227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6ECF5"/>
                </a:solidFill>
                <a:latin typeface="Calibri"/>
              </a:rPr>
              <a:t>URLs on Google top pages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2746" y="4572000"/>
            <a:ext cx="272277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for target keywords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2331720"/>
            <a:ext cx="3271418" cy="2834640"/>
          </a:xfrm>
          <a:prstGeom prst="roundRect">
            <a:avLst>
              <a:gd name="adj" fmla="val 7000"/>
            </a:avLst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7356" y="2697480"/>
            <a:ext cx="45720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1636" y="2926080"/>
            <a:ext cx="272277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F6B6B"/>
                </a:solidFill>
                <a:latin typeface="Calibri"/>
              </a:rPr>
              <a:t>1000+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9924" y="4114800"/>
            <a:ext cx="272277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E6ECF5"/>
                </a:solidFill>
                <a:latin typeface="Calibri"/>
              </a:rPr>
              <a:t>Keywords on page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9924" y="4572000"/>
            <a:ext cx="272277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9AA7BD"/>
                </a:solidFill>
                <a:latin typeface="Calibri"/>
              </a:rPr>
              <a:t>of Google.co.in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07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90E1A"/>
              </a:gs>
              <a:gs pos="100000">
                <a:srgbClr val="323743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39535" y="182880"/>
            <a:ext cx="6400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0" b="1" i="0">
                <a:solidFill>
                  <a:srgbClr val="232936"/>
                </a:solidFill>
                <a:latin typeface="Calibri"/>
              </a:rPr>
              <a:t>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1548993" cy="658368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SELECTED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Graphic Design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434840"/>
            <a:ext cx="1280160" cy="10058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Social &amp; search creatives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509029"/>
            <a:ext cx="4897983" cy="2736053"/>
          </a:xfrm>
          <a:prstGeom prst="roundRect">
            <a:avLst>
              <a:gd name="adj" fmla="val 45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Google Map post — thumbnail update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9280" y="1984247"/>
            <a:ext cx="3441470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Social media post — Hindustan Petroleum (HP Gas)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09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035765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Print advertising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45775" cy="4206241"/>
          </a:xfrm>
          <a:prstGeom prst="roundRect">
            <a:avLst>
              <a:gd name="adj" fmla="val 4000"/>
            </a:avLst>
          </a:prstGeom>
          <a:solidFill>
            <a:srgbClr val="1C2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954" y="2057399"/>
            <a:ext cx="2413786" cy="3383281"/>
          </a:xfrm>
          <a:prstGeom prst="roundRect">
            <a:avLst>
              <a:gd name="adj" fmla="val 4500"/>
            </a:avLst>
          </a:prstGeom>
          <a:effectLst>
            <a:outerShdw blurRad="90000" dist="450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822960" y="562356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9AA7BD"/>
                </a:solidFill>
                <a:latin typeface="Calibri"/>
              </a:rPr>
              <a:t>A4 flyer design — Karni Chemicals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E6ECF5"/>
                </a:solidFill>
                <a:latin typeface="Calibri"/>
              </a:rPr>
              <a:t>Packaging design — popcorn tub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AA7BD"/>
                </a:solidFill>
                <a:latin typeface="Calibri"/>
              </a:rPr>
              <a:t>Flavour range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502814"/>
            <a:ext cx="3088538" cy="2748483"/>
          </a:xfrm>
          <a:prstGeom prst="roundRect">
            <a:avLst>
              <a:gd name="adj" fmla="val 45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932688" y="5769864"/>
            <a:ext cx="308853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Chilli Cheese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185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578" y="2502747"/>
            <a:ext cx="3088538" cy="2748616"/>
          </a:xfrm>
          <a:prstGeom prst="roundRect">
            <a:avLst>
              <a:gd name="adj" fmla="val 45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4551578" y="5769864"/>
            <a:ext cx="308853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Chilli Tomato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02722"/>
            <a:ext cx="3088538" cy="2748667"/>
          </a:xfrm>
          <a:prstGeom prst="roundRect">
            <a:avLst>
              <a:gd name="adj" fmla="val 4500"/>
            </a:avLst>
          </a:prstGeom>
        </p:spPr>
      </p:pic>
      <p:sp>
        <p:nvSpPr>
          <p:cNvPr id="14" name="TextBox 13"/>
          <p:cNvSpPr txBox="1"/>
          <p:nvPr/>
        </p:nvSpPr>
        <p:spPr>
          <a:xfrm>
            <a:off x="8170468" y="5769864"/>
            <a:ext cx="308853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Cream Onion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Festival campaigns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684" y="1984247"/>
            <a:ext cx="2945991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Road Carrier — festival poster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222" y="1984247"/>
            <a:ext cx="3051586" cy="3785616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Festival post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Catalogue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37155"/>
            <a:ext cx="4897983" cy="3479800"/>
          </a:xfrm>
          <a:prstGeom prst="roundRect">
            <a:avLst>
              <a:gd name="adj" fmla="val 45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Inside page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023" y="2099813"/>
            <a:ext cx="4897983" cy="3554485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Outside page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Cinders Biryani — flyer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AA7BD"/>
                </a:solidFill>
                <a:latin typeface="Calibri"/>
              </a:rPr>
              <a:t>Front &amp; 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474" y="1984247"/>
            <a:ext cx="2646411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932688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1295" y="1874519"/>
            <a:ext cx="5117439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809" y="1984247"/>
            <a:ext cx="2646411" cy="3785617"/>
          </a:xfrm>
          <a:prstGeom prst="roundRect">
            <a:avLst>
              <a:gd name="adj" fmla="val 45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6361023" y="5769864"/>
            <a:ext cx="489798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3A3A3A"/>
                </a:solidFill>
                <a:latin typeface="Calibri"/>
              </a:rPr>
              <a:t>Back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Public-figure social media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755648"/>
            <a:ext cx="95856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AA7BD"/>
                </a:solidFill>
                <a:latin typeface="Calibri"/>
              </a:rPr>
              <a:t>Transport Minister Shri. Mauvin Godinho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447086"/>
            <a:ext cx="3088538" cy="3088538"/>
          </a:xfrm>
          <a:prstGeom prst="roundRect">
            <a:avLst>
              <a:gd name="adj" fmla="val 4500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444185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578" y="2064252"/>
            <a:ext cx="3088538" cy="3854206"/>
          </a:xfrm>
          <a:prstGeom prst="roundRect">
            <a:avLst>
              <a:gd name="adj" fmla="val 4500"/>
            </a:avLst>
          </a:prstGeom>
        </p:spPr>
      </p:pic>
      <p:sp>
        <p:nvSpPr>
          <p:cNvPr id="10" name="Rounded Rectangle 9"/>
          <p:cNvSpPr/>
          <p:nvPr/>
        </p:nvSpPr>
        <p:spPr>
          <a:xfrm>
            <a:off x="8060740" y="1874519"/>
            <a:ext cx="3307994" cy="429768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447086"/>
            <a:ext cx="3088538" cy="3088538"/>
          </a:xfrm>
          <a:prstGeom prst="roundRect">
            <a:avLst>
              <a:gd name="adj" fmla="val 4500"/>
            </a:avLst>
          </a:prstGeom>
        </p:spPr>
      </p:pic>
      <p:sp>
        <p:nvSpPr>
          <p:cNvPr id="12" name="Oval 11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1117230" cy="603503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 spc="60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E6ECF5"/>
                </a:solidFill>
                <a:latin typeface="Calibri"/>
              </a:rPr>
              <a:t>Restaurant menu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47088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267" y="1984247"/>
            <a:ext cx="2406824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6251295" y="1874519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6603" y="1984247"/>
            <a:ext cx="2406824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22960" y="4178807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654" y="4288535"/>
            <a:ext cx="1218050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251295" y="4178807"/>
            <a:ext cx="5117439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0883" y="4288535"/>
            <a:ext cx="2398263" cy="1709928"/>
          </a:xfrm>
          <a:prstGeom prst="roundRect">
            <a:avLst>
              <a:gd name="adj" fmla="val 4500"/>
            </a:avLst>
          </a:prstGeom>
        </p:spPr>
      </p:pic>
      <p:sp>
        <p:nvSpPr>
          <p:cNvPr id="13" name="Oval 1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90E1A"/>
              </a:gs>
              <a:gs pos="100000">
                <a:srgbClr val="323743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39535" y="182880"/>
            <a:ext cx="64008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0" b="1" i="0">
                <a:solidFill>
                  <a:srgbClr val="232936"/>
                </a:solidFill>
                <a:latin typeface="Calibri"/>
              </a:rPr>
              <a:t>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1459382" cy="658368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TESTIMONIALS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What our clients say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434840"/>
            <a:ext cx="1280160" cy="10058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90F1B"/>
              </a:gs>
              <a:gs pos="100000">
                <a:srgbClr val="3B414C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2743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0" b="1" i="0">
                <a:solidFill>
                  <a:srgbClr val="4F8CFF"/>
                </a:solidFill>
                <a:latin typeface="Calibri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057400"/>
            <a:ext cx="932688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Their expertise in SEO and social media helped us rank higher and win more customers — professional, responsive, and truly tuned to the local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5349240"/>
            <a:ext cx="3349364" cy="768096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 spc="60">
                <a:solidFill>
                  <a:srgbClr val="FFFFFF"/>
                </a:solidFill>
                <a:latin typeface="Calibri"/>
              </a:rPr>
              <a:t>Benz Nx — SEO &amp; SMM services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90F1B"/>
              </a:gs>
              <a:gs pos="100000">
                <a:srgbClr val="3B414C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2743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0" b="1" i="0">
                <a:solidFill>
                  <a:srgbClr val="4F8CFF"/>
                </a:solidFill>
                <a:latin typeface="Calibri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057400"/>
            <a:ext cx="932688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They built our website and now run our social media — we're very happy with the results, and the team answers every query with real patience.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5349240"/>
            <a:ext cx="4090693" cy="768096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 spc="60">
                <a:solidFill>
                  <a:srgbClr val="FFFFFF"/>
                </a:solidFill>
                <a:latin typeface="Calibri"/>
              </a:rPr>
              <a:t>Pawan Raj — Web &amp; digital marketing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4335" y="0"/>
            <a:ext cx="1737360" cy="14630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E6ECF5"/>
                </a:solidFill>
                <a:latin typeface="Calibri"/>
              </a:rPr>
              <a:t>Why businesses in Goa choose Sanctify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35024"/>
            <a:ext cx="822960" cy="73152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0391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19476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Local  </a:t>
            </a:r>
            <a:r>
              <a:rPr sz="2000" b="0">
                <a:solidFill>
                  <a:srgbClr val="E6ECF5"/>
                </a:solidFill>
                <a:latin typeface="Calibri"/>
              </a:rPr>
              <a:t>Over a decade of local expertise in the Goa market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535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38D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620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Transparent  </a:t>
            </a:r>
            <a:r>
              <a:rPr sz="2000" b="0">
                <a:solidFill>
                  <a:srgbClr val="E6ECF5"/>
                </a:solidFill>
                <a:latin typeface="Calibri"/>
              </a:rPr>
              <a:t>Transparent, measurable results you can 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679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764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Full-suite  </a:t>
            </a:r>
            <a:r>
              <a:rPr sz="2000" b="0">
                <a:solidFill>
                  <a:srgbClr val="E6ECF5"/>
                </a:solidFill>
                <a:latin typeface="Calibri"/>
              </a:rPr>
              <a:t>SEO, web design and PPC under one roof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82312"/>
            <a:ext cx="237744" cy="237744"/>
          </a:xfrm>
          <a:prstGeom prst="roundRect">
            <a:avLst>
              <a:gd name="adj" fmla="val 30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690872"/>
            <a:ext cx="975939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b="1" sz="2000">
                <a:solidFill>
                  <a:srgbClr val="4F8CFF"/>
                </a:solidFill>
                <a:latin typeface="Calibri"/>
              </a:rPr>
              <a:t>ROI-first  </a:t>
            </a:r>
            <a:r>
              <a:rPr sz="2000" b="0">
                <a:solidFill>
                  <a:srgbClr val="E6ECF5"/>
                </a:solidFill>
                <a:latin typeface="Calibri"/>
              </a:rPr>
              <a:t>A creative, results-driven approach focused on ROI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6382512"/>
            <a:ext cx="91440" cy="914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29107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7BD"/>
                </a:solidFill>
                <a:latin typeface="Calibri"/>
              </a:rPr>
              <a:t>Sanctify — Digital Marketing Agency in Goa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9935" y="6291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AA7BD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0D18"/>
              </a:gs>
              <a:gs pos="100000">
                <a:srgbClr val="2D333F"/>
              </a:gs>
            </a:gsLst>
            <a:lin scaled="0" ang="183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114800"/>
            <a:ext cx="4206240" cy="420624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459382" cy="658368"/>
          </a:xfrm>
          <a:prstGeom prst="roundRect">
            <a:avLst>
              <a:gd name="adj" fmla="val 50000"/>
            </a:avLst>
          </a:prstGeom>
          <a:solidFill>
            <a:srgbClr val="3237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spc="60">
                <a:solidFill>
                  <a:srgbClr val="FFFFFF"/>
                </a:solidFill>
                <a:latin typeface="Calibri"/>
              </a:rPr>
              <a:t>GET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Let's grow your brand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4023360"/>
            <a:ext cx="1280160" cy="10058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2F2F2"/>
                </a:solidFill>
                <a:latin typeface="Calibri"/>
              </a:rPr>
              <a:t>www.sanctify.in  ·  Advertising &amp; Digital Marketing Agency, Goa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5943600"/>
            <a:ext cx="109728" cy="10972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5943600"/>
            <a:ext cx="109728" cy="10972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5943600"/>
            <a:ext cx="109728" cy="10972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