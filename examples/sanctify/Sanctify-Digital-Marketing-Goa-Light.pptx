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Sanctify story: 13+ years, Vasco/South Goa, award-winning, full-service, results-driven.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cover the full journey from brand identity through website to demand generation.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Credibility markers pulled from the website. Numbers are the agency's stated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3960"/>
              </a:gs>
              <a:gs pos="100000">
                <a:srgbClr val="2B6190"/>
              </a:gs>
            </a:gsLst>
            <a:lin scaled="0" ang="183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357055" y="-2011680"/>
            <a:ext cx="4754880" cy="4754880"/>
          </a:xfrm>
          <a:prstGeom prst="ellipse">
            <a:avLst/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094415" y="2103120"/>
            <a:ext cx="1371600" cy="1371600"/>
          </a:xfrm>
          <a:prstGeom prst="ellipse">
            <a:avLst/>
          </a:prstGeom>
          <a:solidFill>
            <a:srgbClr val="62B4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868680"/>
            <a:ext cx="3072384" cy="658368"/>
          </a:xfrm>
          <a:prstGeom prst="roundRect">
            <a:avLst>
              <a:gd name="adj" fmla="val 50000"/>
            </a:avLst>
          </a:prstGeom>
          <a:solidFill>
            <a:srgbClr val="356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 b="1" spc="60">
                <a:solidFill>
                  <a:srgbClr val="FFFFFF"/>
                </a:solidFill>
                <a:latin typeface="Calibri"/>
              </a:rPr>
              <a:t>DIGITAL MARKETING AGENCY · GOA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87782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 i="0">
                <a:solidFill>
                  <a:srgbClr val="FFFFFF"/>
                </a:solidFill>
                <a:latin typeface="Calibri"/>
              </a:rPr>
              <a:t>SANCTIFY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" y="4160520"/>
            <a:ext cx="1280160" cy="100584"/>
          </a:xfrm>
          <a:prstGeom prst="rect">
            <a:avLst/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389120"/>
            <a:ext cx="8412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EFEFEF"/>
                </a:solidFill>
                <a:latin typeface="Calibri"/>
              </a:rPr>
              <a:t>Award-winning Advertising &amp; Digital Marketing Agency in Goa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5897880"/>
            <a:ext cx="109728" cy="109728"/>
          </a:xfrm>
          <a:prstGeom prst="ellipse">
            <a:avLst/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3272" y="5897880"/>
            <a:ext cx="109728" cy="109728"/>
          </a:xfrm>
          <a:prstGeom prst="ellipse">
            <a:avLst/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43584" y="5897880"/>
            <a:ext cx="109728" cy="109728"/>
          </a:xfrm>
          <a:prstGeom prst="ellipse">
            <a:avLst/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11135" y="585216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0" i="0">
                <a:solidFill>
                  <a:srgbClr val="E5E5E5"/>
                </a:solidFill>
                <a:latin typeface="Calibri"/>
              </a:rPr>
              <a:t>www.sanctify.in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66928"/>
            <a:ext cx="1035765" cy="603503"/>
          </a:xfrm>
          <a:prstGeom prst="roundRect">
            <a:avLst>
              <a:gd name="adj" fmla="val 50000"/>
            </a:avLst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00" b="1" spc="60">
                <a:solidFill>
                  <a:srgbClr val="FFFFFF"/>
                </a:solidFill>
                <a:latin typeface="Calibri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78992"/>
            <a:ext cx="10545775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0F4C81"/>
                </a:solidFill>
                <a:latin typeface="Calibri"/>
              </a:rPr>
              <a:t>What's inside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847088"/>
            <a:ext cx="822960" cy="73152"/>
          </a:xfrm>
          <a:prstGeom prst="rect">
            <a:avLst/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799"/>
            <a:ext cx="1005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2E9CCA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1874519"/>
            <a:ext cx="4084167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C2A36"/>
                </a:solidFill>
                <a:latin typeface="Calibri"/>
              </a:rPr>
              <a:t>Who we are</a:t>
            </a:r>
          </a:p>
        </p:txBody>
      </p:sp>
      <p:sp>
        <p:nvSpPr>
          <p:cNvPr id="7" name="Rectangle 6"/>
          <p:cNvSpPr/>
          <p:nvPr/>
        </p:nvSpPr>
        <p:spPr>
          <a:xfrm>
            <a:off x="1783080" y="2724911"/>
            <a:ext cx="3901287" cy="9525"/>
          </a:xfrm>
          <a:prstGeom prst="rect">
            <a:avLst/>
          </a:prstGeom>
          <a:solidFill>
            <a:srgbClr val="9CA6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880359"/>
            <a:ext cx="1005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2E9CCA"/>
                </a:solidFill>
                <a:latin typeface="Calibr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926079"/>
            <a:ext cx="4084167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C2A36"/>
                </a:solidFill>
                <a:latin typeface="Calibri"/>
              </a:rPr>
              <a:t>What we do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83080" y="3776471"/>
            <a:ext cx="3901287" cy="9525"/>
          </a:xfrm>
          <a:prstGeom prst="rect">
            <a:avLst/>
          </a:prstGeom>
          <a:solidFill>
            <a:srgbClr val="9CA6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931919"/>
            <a:ext cx="1005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2E9CCA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977639"/>
            <a:ext cx="4084167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C2A36"/>
                </a:solidFill>
                <a:latin typeface="Calibri"/>
              </a:rPr>
              <a:t>Why Sanctify — results &amp; reach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83080" y="4828031"/>
            <a:ext cx="3901287" cy="9525"/>
          </a:xfrm>
          <a:prstGeom prst="rect">
            <a:avLst/>
          </a:prstGeom>
          <a:solidFill>
            <a:srgbClr val="9CA6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4447" y="1828799"/>
            <a:ext cx="1005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2E9CCA"/>
                </a:solidFill>
                <a:latin typeface="Calibr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4567" y="1874519"/>
            <a:ext cx="4084167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C2A36"/>
                </a:solidFill>
                <a:latin typeface="Calibri"/>
              </a:rPr>
              <a:t>Graphic design portfolio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84567" y="2724911"/>
            <a:ext cx="3901287" cy="9525"/>
          </a:xfrm>
          <a:prstGeom prst="rect">
            <a:avLst/>
          </a:prstGeom>
          <a:solidFill>
            <a:srgbClr val="9CA6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24447" y="2880359"/>
            <a:ext cx="1005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2E9CCA"/>
                </a:solidFill>
                <a:latin typeface="Calibri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4567" y="2926079"/>
            <a:ext cx="4084167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C2A36"/>
                </a:solidFill>
                <a:latin typeface="Calibri"/>
              </a:rPr>
              <a:t>What our clients say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84567" y="3776471"/>
            <a:ext cx="3901287" cy="9525"/>
          </a:xfrm>
          <a:prstGeom prst="rect">
            <a:avLst/>
          </a:prstGeom>
          <a:solidFill>
            <a:srgbClr val="9CA6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4447" y="3931919"/>
            <a:ext cx="1005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2E9CCA"/>
                </a:solidFill>
                <a:latin typeface="Calibri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4567" y="3977639"/>
            <a:ext cx="4084167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C2A36"/>
                </a:solidFill>
                <a:latin typeface="Calibri"/>
              </a:rPr>
              <a:t>Let's work together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84567" y="4828031"/>
            <a:ext cx="3901287" cy="9525"/>
          </a:xfrm>
          <a:prstGeom prst="rect">
            <a:avLst/>
          </a:prstGeom>
          <a:solidFill>
            <a:srgbClr val="9CA6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2960" y="6382512"/>
            <a:ext cx="91440" cy="91440"/>
          </a:xfrm>
          <a:prstGeom prst="ellipse">
            <a:avLst/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29107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B6B7A"/>
                </a:solidFill>
                <a:latin typeface="Calibri"/>
              </a:rPr>
              <a:t>Sanctify — Digital Marketing Agency in Goa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39935" y="6291072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B6B7A"/>
                </a:solidFill>
                <a:latin typeface="Calibri"/>
              </a:rPr>
              <a:t>02 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454335" y="0"/>
            <a:ext cx="1737360" cy="146304"/>
          </a:xfrm>
          <a:prstGeom prst="rect">
            <a:avLst/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5775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0F4C81"/>
                </a:solidFill>
                <a:latin typeface="Calibri"/>
              </a:rPr>
              <a:t>Who we 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35024"/>
            <a:ext cx="822960" cy="73152"/>
          </a:xfrm>
          <a:prstGeom prst="rect">
            <a:avLst/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83080" y="1243584"/>
            <a:ext cx="95856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B6B7A"/>
                </a:solidFill>
                <a:latin typeface="Calibri"/>
              </a:rPr>
              <a:t>Vasco, South Goa · India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39112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5024" y="1947672"/>
            <a:ext cx="9759391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b="1" sz="2000">
                <a:solidFill>
                  <a:srgbClr val="2E9CCA"/>
                </a:solidFill>
                <a:latin typeface="Calibri"/>
              </a:rPr>
              <a:t>Established  </a:t>
            </a:r>
            <a:r>
              <a:rPr sz="2000" b="0">
                <a:solidFill>
                  <a:srgbClr val="1C2A36"/>
                </a:solidFill>
                <a:latin typeface="Calibri"/>
              </a:rPr>
              <a:t>An award-winning advertising &amp; digital marketing agency serving Goa for over 13 years.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953512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0F4C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35024" y="2862072"/>
            <a:ext cx="9759391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b="1" sz="2000">
                <a:solidFill>
                  <a:srgbClr val="2E9CCA"/>
                </a:solidFill>
                <a:latin typeface="Calibri"/>
              </a:rPr>
              <a:t>One partner  </a:t>
            </a:r>
            <a:r>
              <a:rPr sz="2000" b="0">
                <a:solidFill>
                  <a:srgbClr val="1C2A36"/>
                </a:solidFill>
                <a:latin typeface="Calibri"/>
              </a:rPr>
              <a:t>A full suite of services under one roof — strategy, creative, web and performance.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867912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5BC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35024" y="3776472"/>
            <a:ext cx="9759391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b="1" sz="2000">
                <a:solidFill>
                  <a:srgbClr val="2E9CCA"/>
                </a:solidFill>
                <a:latin typeface="Calibri"/>
              </a:rPr>
              <a:t>Measurable  </a:t>
            </a:r>
            <a:r>
              <a:rPr sz="2000" b="0">
                <a:solidFill>
                  <a:srgbClr val="1C2A36"/>
                </a:solidFill>
                <a:latin typeface="Calibri"/>
              </a:rPr>
              <a:t>A competitive response rate and quantifiable results set us apart.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782312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35024" y="4690872"/>
            <a:ext cx="9759391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b="1" sz="2000">
                <a:solidFill>
                  <a:srgbClr val="2E9CCA"/>
                </a:solidFill>
                <a:latin typeface="Calibri"/>
              </a:rPr>
              <a:t>Creative  </a:t>
            </a:r>
            <a:r>
              <a:rPr sz="2000" b="0">
                <a:solidFill>
                  <a:srgbClr val="1C2A36"/>
                </a:solidFill>
                <a:latin typeface="Calibri"/>
              </a:rPr>
              <a:t>An 'Amaze Creation Agency' — creative ideas paired with strategic execution.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6382512"/>
            <a:ext cx="91440" cy="91440"/>
          </a:xfrm>
          <a:prstGeom prst="ellipse">
            <a:avLst/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629107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B6B7A"/>
                </a:solidFill>
                <a:latin typeface="Calibri"/>
              </a:rPr>
              <a:t>Sanctify — Digital Marketing Agency in Goa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39935" y="6291072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B6B7A"/>
                </a:solidFill>
                <a:latin typeface="Calibri"/>
              </a:rPr>
              <a:t>03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3E69"/>
              </a:gs>
              <a:gs pos="100000">
                <a:srgbClr val="356895"/>
              </a:gs>
            </a:gsLst>
            <a:lin scaled="0" ang="186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39535" y="182880"/>
            <a:ext cx="640080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0" b="1" i="0">
                <a:solidFill>
                  <a:srgbClr val="275D8D"/>
                </a:solidFill>
                <a:latin typeface="Calibri"/>
              </a:rPr>
              <a:t>01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331720"/>
            <a:ext cx="1100937" cy="658368"/>
          </a:xfrm>
          <a:prstGeom prst="roundRect">
            <a:avLst>
              <a:gd name="adj" fmla="val 50000"/>
            </a:avLst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 b="1" spc="60">
                <a:solidFill>
                  <a:srgbClr val="FFFFFF"/>
                </a:solidFill>
                <a:latin typeface="Calibri"/>
              </a:rPr>
              <a:t>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80360"/>
            <a:ext cx="86868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FFFFFF"/>
                </a:solidFill>
                <a:latin typeface="Calibri"/>
              </a:rPr>
              <a:t>What we do</a:t>
            </a:r>
          </a:p>
        </p:txBody>
      </p:sp>
      <p:sp>
        <p:nvSpPr>
          <p:cNvPr id="6" name="Rectangle 5"/>
          <p:cNvSpPr/>
          <p:nvPr/>
        </p:nvSpPr>
        <p:spPr>
          <a:xfrm>
            <a:off x="850392" y="4434840"/>
            <a:ext cx="1280160" cy="100584"/>
          </a:xfrm>
          <a:prstGeom prst="rect">
            <a:avLst/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66928"/>
            <a:ext cx="954301" cy="603503"/>
          </a:xfrm>
          <a:prstGeom prst="roundRect">
            <a:avLst>
              <a:gd name="adj" fmla="val 50000"/>
            </a:avLst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00" b="1" spc="60">
                <a:solidFill>
                  <a:srgbClr val="FFFFFF"/>
                </a:solidFill>
                <a:latin typeface="Calibri"/>
              </a:rPr>
              <a:t>COMPARE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78992"/>
            <a:ext cx="10545775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0F4C81"/>
                </a:solidFill>
                <a:latin typeface="Calibri"/>
              </a:rPr>
              <a:t>A full-suite agency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847088"/>
            <a:ext cx="822960" cy="73152"/>
          </a:xfrm>
          <a:prstGeom prst="rect">
            <a:avLst/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874519"/>
            <a:ext cx="5044287" cy="4251961"/>
          </a:xfrm>
          <a:prstGeom prst="roundRect">
            <a:avLst>
              <a:gd name="adj" fmla="val 5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874519"/>
            <a:ext cx="5044287" cy="146304"/>
          </a:xfrm>
          <a:prstGeom prst="roundRect">
            <a:avLst>
              <a:gd name="adj" fmla="val 50000"/>
            </a:avLst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88720" y="2450591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00784" y="2359151"/>
            <a:ext cx="3800703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b="1" sz="2000">
                <a:solidFill>
                  <a:srgbClr val="2E9CCA"/>
                </a:solidFill>
                <a:latin typeface="Calibri"/>
              </a:rPr>
              <a:t>Digital  </a:t>
            </a:r>
            <a:r>
              <a:rPr sz="2000" b="0">
                <a:solidFill>
                  <a:srgbClr val="1C2A36"/>
                </a:solidFill>
                <a:latin typeface="Calibri"/>
              </a:rPr>
              <a:t>Performance marketing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3022091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0F4C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00784" y="2930651"/>
            <a:ext cx="3800703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2000" b="1">
                <a:solidFill>
                  <a:srgbClr val="1C2A36"/>
                </a:solidFill>
                <a:latin typeface="Calibri"/>
              </a:rPr>
              <a:t>Search Engine Optimization (SEO)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88720" y="3593591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5BC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00784" y="3502151"/>
            <a:ext cx="3800703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2000" b="1">
                <a:solidFill>
                  <a:srgbClr val="1C2A36"/>
                </a:solidFill>
                <a:latin typeface="Calibri"/>
              </a:rPr>
              <a:t>Search Engine Marketing / PPC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88720" y="4165091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00784" y="4073651"/>
            <a:ext cx="3800703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2000" b="1">
                <a:solidFill>
                  <a:srgbClr val="1C2A36"/>
                </a:solidFill>
                <a:latin typeface="Calibri"/>
              </a:rPr>
              <a:t>Social Media Marketing (SMM)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8720" y="4736591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6C7A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00784" y="4645151"/>
            <a:ext cx="3800703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2000" b="1">
                <a:solidFill>
                  <a:srgbClr val="1C2A36"/>
                </a:solidFill>
                <a:latin typeface="Calibri"/>
              </a:rPr>
              <a:t>Google, Meta &amp; LinkedIn Ads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88720" y="5308091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00784" y="5216651"/>
            <a:ext cx="3800703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2000" b="1">
                <a:solidFill>
                  <a:srgbClr val="1C2A36"/>
                </a:solidFill>
                <a:latin typeface="Calibri"/>
              </a:rPr>
              <a:t>Email marketing &amp; Bulk SMS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24447" y="1874519"/>
            <a:ext cx="5044287" cy="4251961"/>
          </a:xfrm>
          <a:prstGeom prst="roundRect">
            <a:avLst>
              <a:gd name="adj" fmla="val 5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24447" y="1874519"/>
            <a:ext cx="5044287" cy="146304"/>
          </a:xfrm>
          <a:prstGeom prst="roundRect">
            <a:avLst>
              <a:gd name="adj" fmla="val 50000"/>
            </a:avLst>
          </a:prstGeom>
          <a:solidFill>
            <a:srgbClr val="0F4C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90207" y="2450591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2271" y="2359151"/>
            <a:ext cx="3800703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b="1" sz="2000">
                <a:solidFill>
                  <a:srgbClr val="2E9CCA"/>
                </a:solidFill>
                <a:latin typeface="Calibri"/>
              </a:rPr>
              <a:t>Brand  </a:t>
            </a:r>
            <a:r>
              <a:rPr sz="2000" b="0">
                <a:solidFill>
                  <a:srgbClr val="1C2A36"/>
                </a:solidFill>
                <a:latin typeface="Calibri"/>
              </a:rPr>
              <a:t>Creative &amp; web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90207" y="3022091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0F4C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02271" y="2930651"/>
            <a:ext cx="3800703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2000" b="1">
                <a:solidFill>
                  <a:srgbClr val="1C2A36"/>
                </a:solidFill>
                <a:latin typeface="Calibri"/>
              </a:rPr>
              <a:t>Website design &amp; development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90207" y="3593591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5BC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02271" y="3502151"/>
            <a:ext cx="3800703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2000" b="1">
                <a:solidFill>
                  <a:srgbClr val="1C2A36"/>
                </a:solidFill>
                <a:latin typeface="Calibri"/>
              </a:rPr>
              <a:t>Logo, branding &amp; identity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90207" y="4165091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02271" y="4073651"/>
            <a:ext cx="3800703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2000" b="1">
                <a:solidFill>
                  <a:srgbClr val="1C2A36"/>
                </a:solidFill>
                <a:latin typeface="Calibri"/>
              </a:rPr>
              <a:t>Graphic design &amp; collateral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90207" y="4736591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6C7A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02271" y="4645151"/>
            <a:ext cx="3800703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2000" b="1">
                <a:solidFill>
                  <a:srgbClr val="1C2A36"/>
                </a:solidFill>
                <a:latin typeface="Calibri"/>
              </a:rPr>
              <a:t>Online classifieds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90207" y="5308091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02271" y="5216651"/>
            <a:ext cx="3800703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2000" b="1">
                <a:solidFill>
                  <a:srgbClr val="1C2A36"/>
                </a:solidFill>
                <a:latin typeface="Calibri"/>
              </a:rPr>
              <a:t>Newspaper &amp; outdoor ads</a:t>
            </a:r>
          </a:p>
        </p:txBody>
      </p:sp>
      <p:sp>
        <p:nvSpPr>
          <p:cNvPr id="33" name="Oval 32"/>
          <p:cNvSpPr/>
          <p:nvPr/>
        </p:nvSpPr>
        <p:spPr>
          <a:xfrm>
            <a:off x="822960" y="6382512"/>
            <a:ext cx="91440" cy="91440"/>
          </a:xfrm>
          <a:prstGeom prst="ellipse">
            <a:avLst/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629107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B6B7A"/>
                </a:solidFill>
                <a:latin typeface="Calibri"/>
              </a:rPr>
              <a:t>Sanctify — Digital Marketing Agency in Goa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39935" y="6291072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B6B7A"/>
                </a:solidFill>
                <a:latin typeface="Calibri"/>
              </a:rPr>
              <a:t>05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66928"/>
            <a:ext cx="1524554" cy="603503"/>
          </a:xfrm>
          <a:prstGeom prst="roundRect">
            <a:avLst>
              <a:gd name="adj" fmla="val 50000"/>
            </a:avLst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00" b="1" spc="60">
                <a:solidFill>
                  <a:srgbClr val="FFFFFF"/>
                </a:solidFill>
                <a:latin typeface="Calibri"/>
              </a:rPr>
              <a:t>BY THE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78992"/>
            <a:ext cx="10545775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0F4C81"/>
                </a:solidFill>
                <a:latin typeface="Calibri"/>
              </a:rPr>
              <a:t>Why Sanctify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847088"/>
            <a:ext cx="822960" cy="73152"/>
          </a:xfrm>
          <a:prstGeom prst="rect">
            <a:avLst/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83080" y="1755648"/>
            <a:ext cx="95856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B6B7A"/>
                </a:solidFill>
                <a:latin typeface="Calibri"/>
              </a:rPr>
              <a:t>Track record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31720"/>
            <a:ext cx="2362123" cy="2834640"/>
          </a:xfrm>
          <a:prstGeom prst="roundRect">
            <a:avLst>
              <a:gd name="adj" fmla="val 7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697480"/>
            <a:ext cx="457200" cy="91440"/>
          </a:xfrm>
          <a:prstGeom prst="rect">
            <a:avLst/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926080"/>
            <a:ext cx="1813483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i="0">
                <a:solidFill>
                  <a:srgbClr val="2E9CCA"/>
                </a:solidFill>
                <a:latin typeface="Calibri"/>
              </a:rPr>
              <a:t>4.8/5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4114800"/>
            <a:ext cx="181348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C2A36"/>
                </a:solidFill>
                <a:latin typeface="Calibri"/>
              </a:rPr>
              <a:t>Top-rated agency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4572000"/>
            <a:ext cx="1813483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B7A"/>
                </a:solidFill>
                <a:latin typeface="Calibri"/>
              </a:rPr>
              <a:t>128 reviews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50843" y="2331720"/>
            <a:ext cx="2362123" cy="2834640"/>
          </a:xfrm>
          <a:prstGeom prst="roundRect">
            <a:avLst>
              <a:gd name="adj" fmla="val 7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70883" y="2697480"/>
            <a:ext cx="457200" cy="91440"/>
          </a:xfrm>
          <a:prstGeom prst="rect">
            <a:avLst/>
          </a:prstGeom>
          <a:solidFill>
            <a:srgbClr val="0F4C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25163" y="2926080"/>
            <a:ext cx="1813483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i="0">
                <a:solidFill>
                  <a:srgbClr val="0F4C81"/>
                </a:solidFill>
                <a:latin typeface="Calibri"/>
              </a:rPr>
              <a:t>13+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3451" y="4114800"/>
            <a:ext cx="181348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C2A36"/>
                </a:solidFill>
                <a:latin typeface="Calibri"/>
              </a:rPr>
              <a:t>Years of experience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3451" y="4572000"/>
            <a:ext cx="1813483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B7A"/>
                </a:solidFill>
                <a:latin typeface="Calibri"/>
              </a:rPr>
              <a:t>serving Goa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331720"/>
            <a:ext cx="2362123" cy="2834640"/>
          </a:xfrm>
          <a:prstGeom prst="roundRect">
            <a:avLst>
              <a:gd name="adj" fmla="val 7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98767" y="2697480"/>
            <a:ext cx="457200" cy="91440"/>
          </a:xfrm>
          <a:prstGeom prst="rect">
            <a:avLst/>
          </a:prstGeom>
          <a:solidFill>
            <a:srgbClr val="5BC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926080"/>
            <a:ext cx="1813483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i="0">
                <a:solidFill>
                  <a:srgbClr val="5BC0BE"/>
                </a:solidFill>
                <a:latin typeface="Calibri"/>
              </a:rPr>
              <a:t>2600+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71335" y="4114800"/>
            <a:ext cx="181348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C2A36"/>
                </a:solidFill>
                <a:latin typeface="Calibri"/>
              </a:rPr>
              <a:t>Daily website visitors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1335" y="4572000"/>
            <a:ext cx="1813483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B7A"/>
                </a:solidFill>
                <a:latin typeface="Calibri"/>
              </a:rPr>
              <a:t>sanctify.in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06611" y="2331720"/>
            <a:ext cx="2362123" cy="2834640"/>
          </a:xfrm>
          <a:prstGeom prst="roundRect">
            <a:avLst>
              <a:gd name="adj" fmla="val 7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326651" y="2697480"/>
            <a:ext cx="457200" cy="91440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80931" y="2926080"/>
            <a:ext cx="1813483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i="0">
                <a:solidFill>
                  <a:srgbClr val="F2A65A"/>
                </a:solidFill>
                <a:latin typeface="Calibri"/>
              </a:rPr>
              <a:t>100+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99219" y="4114800"/>
            <a:ext cx="181348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C2A36"/>
                </a:solidFill>
                <a:latin typeface="Calibri"/>
              </a:rPr>
              <a:t>Websites developed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219" y="4572000"/>
            <a:ext cx="1813483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B7A"/>
                </a:solidFill>
                <a:latin typeface="Calibri"/>
              </a:rPr>
              <a:t>and counting</a:t>
            </a:r>
          </a:p>
        </p:txBody>
      </p:sp>
      <p:sp>
        <p:nvSpPr>
          <p:cNvPr id="26" name="Oval 25"/>
          <p:cNvSpPr/>
          <p:nvPr/>
        </p:nvSpPr>
        <p:spPr>
          <a:xfrm>
            <a:off x="822960" y="6382512"/>
            <a:ext cx="91440" cy="91440"/>
          </a:xfrm>
          <a:prstGeom prst="ellipse">
            <a:avLst/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629107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B6B7A"/>
                </a:solidFill>
                <a:latin typeface="Calibri"/>
              </a:rPr>
              <a:t>Sanctify — Digital Marketing Agency in Goa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39935" y="6291072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B6B7A"/>
                </a:solidFill>
                <a:latin typeface="Calibri"/>
              </a:rPr>
              <a:t>06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66928"/>
            <a:ext cx="1524554" cy="603503"/>
          </a:xfrm>
          <a:prstGeom prst="roundRect">
            <a:avLst>
              <a:gd name="adj" fmla="val 50000"/>
            </a:avLst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00" b="1" spc="60">
                <a:solidFill>
                  <a:srgbClr val="FFFFFF"/>
                </a:solidFill>
                <a:latin typeface="Calibri"/>
              </a:rPr>
              <a:t>BY THE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78992"/>
            <a:ext cx="10545775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0F4C81"/>
                </a:solidFill>
                <a:latin typeface="Calibri"/>
              </a:rPr>
              <a:t>Search visibility we deliver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847088"/>
            <a:ext cx="822960" cy="73152"/>
          </a:xfrm>
          <a:prstGeom prst="rect">
            <a:avLst/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83080" y="1755648"/>
            <a:ext cx="95856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B6B7A"/>
                </a:solidFill>
                <a:latin typeface="Calibri"/>
              </a:rPr>
              <a:t>Organic reach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31720"/>
            <a:ext cx="3271418" cy="2834640"/>
          </a:xfrm>
          <a:prstGeom prst="roundRect">
            <a:avLst>
              <a:gd name="adj" fmla="val 7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697480"/>
            <a:ext cx="457200" cy="91440"/>
          </a:xfrm>
          <a:prstGeom prst="rect">
            <a:avLst/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926080"/>
            <a:ext cx="2722778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i="0">
                <a:solidFill>
                  <a:srgbClr val="2E9CCA"/>
                </a:solidFill>
                <a:latin typeface="Calibri"/>
              </a:rPr>
              <a:t>1200+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4114800"/>
            <a:ext cx="272277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C2A36"/>
                </a:solidFill>
                <a:latin typeface="Calibri"/>
              </a:rPr>
              <a:t>URLs indexed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4572000"/>
            <a:ext cx="2722778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B7A"/>
                </a:solidFill>
                <a:latin typeface="Calibri"/>
              </a:rPr>
              <a:t>across the site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60138" y="2331720"/>
            <a:ext cx="3271418" cy="2834640"/>
          </a:xfrm>
          <a:prstGeom prst="roundRect">
            <a:avLst>
              <a:gd name="adj" fmla="val 7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80178" y="2697480"/>
            <a:ext cx="457200" cy="91440"/>
          </a:xfrm>
          <a:prstGeom prst="rect">
            <a:avLst/>
          </a:prstGeom>
          <a:solidFill>
            <a:srgbClr val="0F4C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34458" y="2926080"/>
            <a:ext cx="2722778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i="0">
                <a:solidFill>
                  <a:srgbClr val="0F4C81"/>
                </a:solidFill>
                <a:latin typeface="Calibri"/>
              </a:rPr>
              <a:t>800+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2746" y="4114800"/>
            <a:ext cx="272277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C2A36"/>
                </a:solidFill>
                <a:latin typeface="Calibri"/>
              </a:rPr>
              <a:t>URLs on Google top pages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2746" y="4572000"/>
            <a:ext cx="2722778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B7A"/>
                </a:solidFill>
                <a:latin typeface="Calibri"/>
              </a:rPr>
              <a:t>for target keywords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7316" y="2331720"/>
            <a:ext cx="3271418" cy="2834640"/>
          </a:xfrm>
          <a:prstGeom prst="roundRect">
            <a:avLst>
              <a:gd name="adj" fmla="val 7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17356" y="2697480"/>
            <a:ext cx="457200" cy="91440"/>
          </a:xfrm>
          <a:prstGeom prst="rect">
            <a:avLst/>
          </a:prstGeom>
          <a:solidFill>
            <a:srgbClr val="5BC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71636" y="2926080"/>
            <a:ext cx="2722778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i="0">
                <a:solidFill>
                  <a:srgbClr val="5BC0BE"/>
                </a:solidFill>
                <a:latin typeface="Calibri"/>
              </a:rPr>
              <a:t>1000+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9924" y="4114800"/>
            <a:ext cx="272277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C2A36"/>
                </a:solidFill>
                <a:latin typeface="Calibri"/>
              </a:rPr>
              <a:t>Keywords on page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9924" y="4572000"/>
            <a:ext cx="2722778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B7A"/>
                </a:solidFill>
                <a:latin typeface="Calibri"/>
              </a:rPr>
              <a:t>of Google.co.in</a:t>
            </a:r>
          </a:p>
        </p:txBody>
      </p:sp>
      <p:sp>
        <p:nvSpPr>
          <p:cNvPr id="21" name="Oval 20"/>
          <p:cNvSpPr/>
          <p:nvPr/>
        </p:nvSpPr>
        <p:spPr>
          <a:xfrm>
            <a:off x="822960" y="6382512"/>
            <a:ext cx="91440" cy="91440"/>
          </a:xfrm>
          <a:prstGeom prst="ellipse">
            <a:avLst/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629107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B6B7A"/>
                </a:solidFill>
                <a:latin typeface="Calibri"/>
              </a:rPr>
              <a:t>Sanctify — Digital Marketing Agency in Goa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39935" y="6291072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B6B7A"/>
                </a:solidFill>
                <a:latin typeface="Calibri"/>
              </a:rPr>
              <a:t>07 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3E69"/>
              </a:gs>
              <a:gs pos="100000">
                <a:srgbClr val="356895"/>
              </a:gs>
            </a:gsLst>
            <a:lin scaled="0" ang="186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39535" y="182880"/>
            <a:ext cx="640080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0" b="1" i="0">
                <a:solidFill>
                  <a:srgbClr val="275D8D"/>
                </a:solidFill>
                <a:latin typeface="Calibri"/>
              </a:rPr>
              <a:t>02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331720"/>
            <a:ext cx="1548993" cy="658368"/>
          </a:xfrm>
          <a:prstGeom prst="roundRect">
            <a:avLst>
              <a:gd name="adj" fmla="val 50000"/>
            </a:avLst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 b="1" spc="60">
                <a:solidFill>
                  <a:srgbClr val="FFFFFF"/>
                </a:solidFill>
                <a:latin typeface="Calibri"/>
              </a:rPr>
              <a:t>SELECTED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80360"/>
            <a:ext cx="86868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FFFFFF"/>
                </a:solidFill>
                <a:latin typeface="Calibri"/>
              </a:rPr>
              <a:t>Graphic Design Portfolio</a:t>
            </a:r>
          </a:p>
        </p:txBody>
      </p:sp>
      <p:sp>
        <p:nvSpPr>
          <p:cNvPr id="6" name="Rectangle 5"/>
          <p:cNvSpPr/>
          <p:nvPr/>
        </p:nvSpPr>
        <p:spPr>
          <a:xfrm>
            <a:off x="850392" y="4434840"/>
            <a:ext cx="1280160" cy="100584"/>
          </a:xfrm>
          <a:prstGeom prst="rect">
            <a:avLst/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66928"/>
            <a:ext cx="1117230" cy="603503"/>
          </a:xfrm>
          <a:prstGeom prst="roundRect">
            <a:avLst>
              <a:gd name="adj" fmla="val 50000"/>
            </a:avLst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00" b="1" spc="60">
                <a:solidFill>
                  <a:srgbClr val="FFFFFF"/>
                </a:solidFill>
                <a:latin typeface="Calibri"/>
              </a:rPr>
              <a:t>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78992"/>
            <a:ext cx="10545775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0F4C81"/>
                </a:solidFill>
                <a:latin typeface="Calibri"/>
              </a:rPr>
              <a:t>Social &amp; search creatives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847088"/>
            <a:ext cx="822960" cy="73152"/>
          </a:xfrm>
          <a:prstGeom prst="rect">
            <a:avLst/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874519"/>
            <a:ext cx="5117439" cy="429768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2509029"/>
            <a:ext cx="4897983" cy="2736053"/>
          </a:xfrm>
          <a:prstGeom prst="roundRect">
            <a:avLst>
              <a:gd name="adj" fmla="val 4500"/>
            </a:avLst>
          </a:prstGeom>
        </p:spPr>
      </p:pic>
      <p:sp>
        <p:nvSpPr>
          <p:cNvPr id="7" name="TextBox 6"/>
          <p:cNvSpPr txBox="1"/>
          <p:nvPr/>
        </p:nvSpPr>
        <p:spPr>
          <a:xfrm>
            <a:off x="932688" y="5769864"/>
            <a:ext cx="489798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 i="0">
                <a:solidFill>
                  <a:srgbClr val="3A3A3A"/>
                </a:solidFill>
                <a:latin typeface="Calibri"/>
              </a:rPr>
              <a:t>Google Map post — thumbnail update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1295" y="1874519"/>
            <a:ext cx="5117439" cy="429768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9280" y="1984247"/>
            <a:ext cx="3441470" cy="3785617"/>
          </a:xfrm>
          <a:prstGeom prst="roundRect">
            <a:avLst>
              <a:gd name="adj" fmla="val 4500"/>
            </a:avLst>
          </a:prstGeom>
        </p:spPr>
      </p:pic>
      <p:sp>
        <p:nvSpPr>
          <p:cNvPr id="10" name="TextBox 9"/>
          <p:cNvSpPr txBox="1"/>
          <p:nvPr/>
        </p:nvSpPr>
        <p:spPr>
          <a:xfrm>
            <a:off x="6361023" y="5769864"/>
            <a:ext cx="489798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 i="0">
                <a:solidFill>
                  <a:srgbClr val="3A3A3A"/>
                </a:solidFill>
                <a:latin typeface="Calibri"/>
              </a:rPr>
              <a:t>Social media post — Hindustan Petroleum (HP Gas)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6382512"/>
            <a:ext cx="91440" cy="91440"/>
          </a:xfrm>
          <a:prstGeom prst="ellipse">
            <a:avLst/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629107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B6B7A"/>
                </a:solidFill>
                <a:latin typeface="Calibri"/>
              </a:rPr>
              <a:t>Sanctify — Digital Marketing Agency in Goa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39935" y="6291072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B6B7A"/>
                </a:solidFill>
                <a:latin typeface="Calibri"/>
              </a:rPr>
              <a:t>09 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66928"/>
            <a:ext cx="1035765" cy="603503"/>
          </a:xfrm>
          <a:prstGeom prst="roundRect">
            <a:avLst>
              <a:gd name="adj" fmla="val 50000"/>
            </a:avLst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00" b="1" spc="60">
                <a:solidFill>
                  <a:srgbClr val="FFFFFF"/>
                </a:solidFill>
                <a:latin typeface="Calibri"/>
              </a:rPr>
              <a:t>SHOWCASE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78992"/>
            <a:ext cx="10545775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0F4C81"/>
                </a:solidFill>
                <a:latin typeface="Calibri"/>
              </a:rPr>
              <a:t>Print advertising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847088"/>
            <a:ext cx="822960" cy="73152"/>
          </a:xfrm>
          <a:prstGeom prst="rect">
            <a:avLst/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874519"/>
            <a:ext cx="10545775" cy="4206241"/>
          </a:xfrm>
          <a:prstGeom prst="roundRect">
            <a:avLst>
              <a:gd name="adj" fmla="val 4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8954" y="2057399"/>
            <a:ext cx="2413786" cy="3383281"/>
          </a:xfrm>
          <a:prstGeom prst="roundRect">
            <a:avLst>
              <a:gd name="adj" fmla="val 4500"/>
            </a:avLst>
          </a:prstGeom>
          <a:effectLst>
            <a:outerShdw blurRad="90000" dist="45000" dir="5400000" rotWithShape="0">
              <a:srgbClr val="000000">
                <a:alpha val="22000"/>
              </a:srgbClr>
            </a:outerShdw>
          </a:effectLst>
        </p:spPr>
      </p:pic>
      <p:sp>
        <p:nvSpPr>
          <p:cNvPr id="7" name="TextBox 6"/>
          <p:cNvSpPr txBox="1"/>
          <p:nvPr/>
        </p:nvSpPr>
        <p:spPr>
          <a:xfrm>
            <a:off x="822960" y="562356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B6B7A"/>
                </a:solidFill>
                <a:latin typeface="Calibri"/>
              </a:rPr>
              <a:t>A4 flyer design — Karni Chemicals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6382512"/>
            <a:ext cx="91440" cy="91440"/>
          </a:xfrm>
          <a:prstGeom prst="ellipse">
            <a:avLst/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629107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B6B7A"/>
                </a:solidFill>
                <a:latin typeface="Calibri"/>
              </a:rPr>
              <a:t>Sanctify — Digital Marketing Agency in Goa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39935" y="6291072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B6B7A"/>
                </a:solidFill>
                <a:latin typeface="Calibri"/>
              </a:rPr>
              <a:t>10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66928"/>
            <a:ext cx="1117230" cy="603503"/>
          </a:xfrm>
          <a:prstGeom prst="roundRect">
            <a:avLst>
              <a:gd name="adj" fmla="val 50000"/>
            </a:avLst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00" b="1" spc="60">
                <a:solidFill>
                  <a:srgbClr val="FFFFFF"/>
                </a:solidFill>
                <a:latin typeface="Calibri"/>
              </a:rPr>
              <a:t>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78992"/>
            <a:ext cx="10545775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F4C81"/>
                </a:solidFill>
                <a:latin typeface="Calibri"/>
              </a:rPr>
              <a:t>Packaging design — popcorn tub covers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847088"/>
            <a:ext cx="822960" cy="73152"/>
          </a:xfrm>
          <a:prstGeom prst="rect">
            <a:avLst/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83080" y="1755648"/>
            <a:ext cx="95856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B6B7A"/>
                </a:solidFill>
                <a:latin typeface="Calibri"/>
              </a:rPr>
              <a:t>Flavour range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74519"/>
            <a:ext cx="3307994" cy="429768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2502814"/>
            <a:ext cx="3088538" cy="2748483"/>
          </a:xfrm>
          <a:prstGeom prst="roundRect">
            <a:avLst>
              <a:gd name="adj" fmla="val 4500"/>
            </a:avLst>
          </a:prstGeom>
        </p:spPr>
      </p:pic>
      <p:sp>
        <p:nvSpPr>
          <p:cNvPr id="8" name="TextBox 7"/>
          <p:cNvSpPr txBox="1"/>
          <p:nvPr/>
        </p:nvSpPr>
        <p:spPr>
          <a:xfrm>
            <a:off x="932688" y="5769864"/>
            <a:ext cx="308853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 i="0">
                <a:solidFill>
                  <a:srgbClr val="3A3A3A"/>
                </a:solidFill>
                <a:latin typeface="Calibri"/>
              </a:rPr>
              <a:t>Chilli Cheese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41850" y="1874519"/>
            <a:ext cx="3307994" cy="429768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1578" y="2502747"/>
            <a:ext cx="3088538" cy="2748616"/>
          </a:xfrm>
          <a:prstGeom prst="roundRect">
            <a:avLst>
              <a:gd name="adj" fmla="val 4500"/>
            </a:avLst>
          </a:prstGeom>
        </p:spPr>
      </p:pic>
      <p:sp>
        <p:nvSpPr>
          <p:cNvPr id="11" name="TextBox 10"/>
          <p:cNvSpPr txBox="1"/>
          <p:nvPr/>
        </p:nvSpPr>
        <p:spPr>
          <a:xfrm>
            <a:off x="4551578" y="5769864"/>
            <a:ext cx="308853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 i="0">
                <a:solidFill>
                  <a:srgbClr val="3A3A3A"/>
                </a:solidFill>
                <a:latin typeface="Calibri"/>
              </a:rPr>
              <a:t>Chilli Tomato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0740" y="1874519"/>
            <a:ext cx="3307994" cy="429768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0468" y="2502722"/>
            <a:ext cx="3088538" cy="2748667"/>
          </a:xfrm>
          <a:prstGeom prst="roundRect">
            <a:avLst>
              <a:gd name="adj" fmla="val 4500"/>
            </a:avLst>
          </a:prstGeom>
        </p:spPr>
      </p:pic>
      <p:sp>
        <p:nvSpPr>
          <p:cNvPr id="14" name="TextBox 13"/>
          <p:cNvSpPr txBox="1"/>
          <p:nvPr/>
        </p:nvSpPr>
        <p:spPr>
          <a:xfrm>
            <a:off x="8170468" y="5769864"/>
            <a:ext cx="308853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 i="0">
                <a:solidFill>
                  <a:srgbClr val="3A3A3A"/>
                </a:solidFill>
                <a:latin typeface="Calibri"/>
              </a:rPr>
              <a:t>Cream Onion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6382512"/>
            <a:ext cx="91440" cy="91440"/>
          </a:xfrm>
          <a:prstGeom prst="ellipse">
            <a:avLst/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629107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B6B7A"/>
                </a:solidFill>
                <a:latin typeface="Calibri"/>
              </a:rPr>
              <a:t>Sanctify — Digital Marketing Agency in Goa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39935" y="6291072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B6B7A"/>
                </a:solidFill>
                <a:latin typeface="Calibri"/>
              </a:rPr>
              <a:t>11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66928"/>
            <a:ext cx="1117230" cy="603503"/>
          </a:xfrm>
          <a:prstGeom prst="roundRect">
            <a:avLst>
              <a:gd name="adj" fmla="val 50000"/>
            </a:avLst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00" b="1" spc="60">
                <a:solidFill>
                  <a:srgbClr val="FFFFFF"/>
                </a:solidFill>
                <a:latin typeface="Calibri"/>
              </a:rPr>
              <a:t>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78992"/>
            <a:ext cx="10545775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0F4C81"/>
                </a:solidFill>
                <a:latin typeface="Calibri"/>
              </a:rPr>
              <a:t>Festival campaigns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847088"/>
            <a:ext cx="822960" cy="73152"/>
          </a:xfrm>
          <a:prstGeom prst="rect">
            <a:avLst/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874519"/>
            <a:ext cx="5117439" cy="429768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8684" y="1984247"/>
            <a:ext cx="2945991" cy="3785617"/>
          </a:xfrm>
          <a:prstGeom prst="roundRect">
            <a:avLst>
              <a:gd name="adj" fmla="val 4500"/>
            </a:avLst>
          </a:prstGeom>
        </p:spPr>
      </p:pic>
      <p:sp>
        <p:nvSpPr>
          <p:cNvPr id="7" name="TextBox 6"/>
          <p:cNvSpPr txBox="1"/>
          <p:nvPr/>
        </p:nvSpPr>
        <p:spPr>
          <a:xfrm>
            <a:off x="932688" y="5769864"/>
            <a:ext cx="489798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 i="0">
                <a:solidFill>
                  <a:srgbClr val="3A3A3A"/>
                </a:solidFill>
                <a:latin typeface="Calibri"/>
              </a:rPr>
              <a:t>Road Carrier — festival poster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1295" y="1874519"/>
            <a:ext cx="5117439" cy="429768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4222" y="1984247"/>
            <a:ext cx="3051586" cy="3785616"/>
          </a:xfrm>
          <a:prstGeom prst="roundRect">
            <a:avLst>
              <a:gd name="adj" fmla="val 4500"/>
            </a:avLst>
          </a:prstGeom>
        </p:spPr>
      </p:pic>
      <p:sp>
        <p:nvSpPr>
          <p:cNvPr id="10" name="TextBox 9"/>
          <p:cNvSpPr txBox="1"/>
          <p:nvPr/>
        </p:nvSpPr>
        <p:spPr>
          <a:xfrm>
            <a:off x="6361023" y="5769864"/>
            <a:ext cx="489798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 i="0">
                <a:solidFill>
                  <a:srgbClr val="3A3A3A"/>
                </a:solidFill>
                <a:latin typeface="Calibri"/>
              </a:rPr>
              <a:t>Festival post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6382512"/>
            <a:ext cx="91440" cy="91440"/>
          </a:xfrm>
          <a:prstGeom prst="ellipse">
            <a:avLst/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629107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B6B7A"/>
                </a:solidFill>
                <a:latin typeface="Calibri"/>
              </a:rPr>
              <a:t>Sanctify — Digital Marketing Agency in Goa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39935" y="6291072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B6B7A"/>
                </a:solidFill>
                <a:latin typeface="Calibri"/>
              </a:rPr>
              <a:t>12 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66928"/>
            <a:ext cx="1117230" cy="603503"/>
          </a:xfrm>
          <a:prstGeom prst="roundRect">
            <a:avLst>
              <a:gd name="adj" fmla="val 50000"/>
            </a:avLst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00" b="1" spc="60">
                <a:solidFill>
                  <a:srgbClr val="FFFFFF"/>
                </a:solidFill>
                <a:latin typeface="Calibri"/>
              </a:rPr>
              <a:t>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78992"/>
            <a:ext cx="10545775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0F4C81"/>
                </a:solidFill>
                <a:latin typeface="Calibri"/>
              </a:rPr>
              <a:t>Catalogue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847088"/>
            <a:ext cx="822960" cy="73152"/>
          </a:xfrm>
          <a:prstGeom prst="rect">
            <a:avLst/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874519"/>
            <a:ext cx="5117439" cy="429768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2137155"/>
            <a:ext cx="4897983" cy="3479800"/>
          </a:xfrm>
          <a:prstGeom prst="roundRect">
            <a:avLst>
              <a:gd name="adj" fmla="val 4500"/>
            </a:avLst>
          </a:prstGeom>
        </p:spPr>
      </p:pic>
      <p:sp>
        <p:nvSpPr>
          <p:cNvPr id="7" name="TextBox 6"/>
          <p:cNvSpPr txBox="1"/>
          <p:nvPr/>
        </p:nvSpPr>
        <p:spPr>
          <a:xfrm>
            <a:off x="932688" y="5769864"/>
            <a:ext cx="489798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 i="0">
                <a:solidFill>
                  <a:srgbClr val="3A3A3A"/>
                </a:solidFill>
                <a:latin typeface="Calibri"/>
              </a:rPr>
              <a:t>Inside page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1295" y="1874519"/>
            <a:ext cx="5117439" cy="429768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1023" y="2099813"/>
            <a:ext cx="4897983" cy="3554485"/>
          </a:xfrm>
          <a:prstGeom prst="roundRect">
            <a:avLst>
              <a:gd name="adj" fmla="val 4500"/>
            </a:avLst>
          </a:prstGeom>
        </p:spPr>
      </p:pic>
      <p:sp>
        <p:nvSpPr>
          <p:cNvPr id="10" name="TextBox 9"/>
          <p:cNvSpPr txBox="1"/>
          <p:nvPr/>
        </p:nvSpPr>
        <p:spPr>
          <a:xfrm>
            <a:off x="6361023" y="5769864"/>
            <a:ext cx="489798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 i="0">
                <a:solidFill>
                  <a:srgbClr val="3A3A3A"/>
                </a:solidFill>
                <a:latin typeface="Calibri"/>
              </a:rPr>
              <a:t>Outside page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6382512"/>
            <a:ext cx="91440" cy="91440"/>
          </a:xfrm>
          <a:prstGeom prst="ellipse">
            <a:avLst/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629107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B6B7A"/>
                </a:solidFill>
                <a:latin typeface="Calibri"/>
              </a:rPr>
              <a:t>Sanctify — Digital Marketing Agency in Goa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39935" y="6291072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B6B7A"/>
                </a:solidFill>
                <a:latin typeface="Calibri"/>
              </a:rPr>
              <a:t>13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66928"/>
            <a:ext cx="1117230" cy="603503"/>
          </a:xfrm>
          <a:prstGeom prst="roundRect">
            <a:avLst>
              <a:gd name="adj" fmla="val 50000"/>
            </a:avLst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00" b="1" spc="60">
                <a:solidFill>
                  <a:srgbClr val="FFFFFF"/>
                </a:solidFill>
                <a:latin typeface="Calibri"/>
              </a:rPr>
              <a:t>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78992"/>
            <a:ext cx="10545775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0F4C81"/>
                </a:solidFill>
                <a:latin typeface="Calibri"/>
              </a:rPr>
              <a:t>Cinders Biryani — flyer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847088"/>
            <a:ext cx="822960" cy="73152"/>
          </a:xfrm>
          <a:prstGeom prst="rect">
            <a:avLst/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83080" y="1755648"/>
            <a:ext cx="95856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B6B7A"/>
                </a:solidFill>
                <a:latin typeface="Calibri"/>
              </a:rPr>
              <a:t>Front &amp; back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74519"/>
            <a:ext cx="5117439" cy="429768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8474" y="1984247"/>
            <a:ext cx="2646411" cy="3785617"/>
          </a:xfrm>
          <a:prstGeom prst="roundRect">
            <a:avLst>
              <a:gd name="adj" fmla="val 4500"/>
            </a:avLst>
          </a:prstGeom>
        </p:spPr>
      </p:pic>
      <p:sp>
        <p:nvSpPr>
          <p:cNvPr id="8" name="TextBox 7"/>
          <p:cNvSpPr txBox="1"/>
          <p:nvPr/>
        </p:nvSpPr>
        <p:spPr>
          <a:xfrm>
            <a:off x="932688" y="5769864"/>
            <a:ext cx="489798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 i="0">
                <a:solidFill>
                  <a:srgbClr val="3A3A3A"/>
                </a:solidFill>
                <a:latin typeface="Calibri"/>
              </a:rPr>
              <a:t>Front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1295" y="1874519"/>
            <a:ext cx="5117439" cy="429768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6809" y="1984247"/>
            <a:ext cx="2646411" cy="3785617"/>
          </a:xfrm>
          <a:prstGeom prst="roundRect">
            <a:avLst>
              <a:gd name="adj" fmla="val 4500"/>
            </a:avLst>
          </a:prstGeom>
        </p:spPr>
      </p:pic>
      <p:sp>
        <p:nvSpPr>
          <p:cNvPr id="11" name="TextBox 10"/>
          <p:cNvSpPr txBox="1"/>
          <p:nvPr/>
        </p:nvSpPr>
        <p:spPr>
          <a:xfrm>
            <a:off x="6361023" y="5769864"/>
            <a:ext cx="489798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 i="0">
                <a:solidFill>
                  <a:srgbClr val="3A3A3A"/>
                </a:solidFill>
                <a:latin typeface="Calibri"/>
              </a:rPr>
              <a:t>Back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6382512"/>
            <a:ext cx="91440" cy="91440"/>
          </a:xfrm>
          <a:prstGeom prst="ellipse">
            <a:avLst/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629107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B6B7A"/>
                </a:solidFill>
                <a:latin typeface="Calibri"/>
              </a:rPr>
              <a:t>Sanctify — Digital Marketing Agency in Goa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39935" y="6291072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B6B7A"/>
                </a:solidFill>
                <a:latin typeface="Calibri"/>
              </a:rPr>
              <a:t>14 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66928"/>
            <a:ext cx="1117230" cy="603503"/>
          </a:xfrm>
          <a:prstGeom prst="roundRect">
            <a:avLst>
              <a:gd name="adj" fmla="val 50000"/>
            </a:avLst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00" b="1" spc="60">
                <a:solidFill>
                  <a:srgbClr val="FFFFFF"/>
                </a:solidFill>
                <a:latin typeface="Calibri"/>
              </a:rPr>
              <a:t>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78992"/>
            <a:ext cx="10545775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0F4C81"/>
                </a:solidFill>
                <a:latin typeface="Calibri"/>
              </a:rPr>
              <a:t>Public-figure social media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847088"/>
            <a:ext cx="822960" cy="73152"/>
          </a:xfrm>
          <a:prstGeom prst="rect">
            <a:avLst/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83080" y="1755648"/>
            <a:ext cx="95856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B6B7A"/>
                </a:solidFill>
                <a:latin typeface="Calibri"/>
              </a:rPr>
              <a:t>Transport Minister Shri. Mauvin Godinho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74519"/>
            <a:ext cx="3307994" cy="429768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2447086"/>
            <a:ext cx="3088538" cy="3088538"/>
          </a:xfrm>
          <a:prstGeom prst="roundRect">
            <a:avLst>
              <a:gd name="adj" fmla="val 4500"/>
            </a:avLst>
          </a:prstGeom>
        </p:spPr>
      </p:pic>
      <p:sp>
        <p:nvSpPr>
          <p:cNvPr id="8" name="Rounded Rectangle 7"/>
          <p:cNvSpPr/>
          <p:nvPr/>
        </p:nvSpPr>
        <p:spPr>
          <a:xfrm>
            <a:off x="4441850" y="1874519"/>
            <a:ext cx="3307994" cy="429768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1578" y="2064252"/>
            <a:ext cx="3088538" cy="3854206"/>
          </a:xfrm>
          <a:prstGeom prst="roundRect">
            <a:avLst>
              <a:gd name="adj" fmla="val 4500"/>
            </a:avLst>
          </a:prstGeom>
        </p:spPr>
      </p:pic>
      <p:sp>
        <p:nvSpPr>
          <p:cNvPr id="10" name="Rounded Rectangle 9"/>
          <p:cNvSpPr/>
          <p:nvPr/>
        </p:nvSpPr>
        <p:spPr>
          <a:xfrm>
            <a:off x="8060740" y="1874519"/>
            <a:ext cx="3307994" cy="429768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0468" y="2447086"/>
            <a:ext cx="3088538" cy="3088538"/>
          </a:xfrm>
          <a:prstGeom prst="roundRect">
            <a:avLst>
              <a:gd name="adj" fmla="val 4500"/>
            </a:avLst>
          </a:prstGeom>
        </p:spPr>
      </p:pic>
      <p:sp>
        <p:nvSpPr>
          <p:cNvPr id="12" name="Oval 11"/>
          <p:cNvSpPr/>
          <p:nvPr/>
        </p:nvSpPr>
        <p:spPr>
          <a:xfrm>
            <a:off x="822960" y="6382512"/>
            <a:ext cx="91440" cy="91440"/>
          </a:xfrm>
          <a:prstGeom prst="ellipse">
            <a:avLst/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629107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B6B7A"/>
                </a:solidFill>
                <a:latin typeface="Calibri"/>
              </a:rPr>
              <a:t>Sanctify — Digital Marketing Agency in Goa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39935" y="6291072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B6B7A"/>
                </a:solidFill>
                <a:latin typeface="Calibri"/>
              </a:rPr>
              <a:t>15 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66928"/>
            <a:ext cx="1117230" cy="603503"/>
          </a:xfrm>
          <a:prstGeom prst="roundRect">
            <a:avLst>
              <a:gd name="adj" fmla="val 50000"/>
            </a:avLst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00" b="1" spc="60">
                <a:solidFill>
                  <a:srgbClr val="FFFFFF"/>
                </a:solidFill>
                <a:latin typeface="Calibri"/>
              </a:rPr>
              <a:t>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78992"/>
            <a:ext cx="10545775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0F4C81"/>
                </a:solidFill>
                <a:latin typeface="Calibri"/>
              </a:rPr>
              <a:t>Restaurant menu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847088"/>
            <a:ext cx="822960" cy="73152"/>
          </a:xfrm>
          <a:prstGeom prst="rect">
            <a:avLst/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874519"/>
            <a:ext cx="5117439" cy="19933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8267" y="1984247"/>
            <a:ext cx="2406824" cy="1709928"/>
          </a:xfrm>
          <a:prstGeom prst="roundRect">
            <a:avLst>
              <a:gd name="adj" fmla="val 4500"/>
            </a:avLst>
          </a:prstGeom>
        </p:spPr>
      </p:pic>
      <p:sp>
        <p:nvSpPr>
          <p:cNvPr id="7" name="Rounded Rectangle 6"/>
          <p:cNvSpPr/>
          <p:nvPr/>
        </p:nvSpPr>
        <p:spPr>
          <a:xfrm>
            <a:off x="6251295" y="1874519"/>
            <a:ext cx="5117439" cy="19933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6603" y="1984247"/>
            <a:ext cx="2406824" cy="1709928"/>
          </a:xfrm>
          <a:prstGeom prst="roundRect">
            <a:avLst>
              <a:gd name="adj" fmla="val 4500"/>
            </a:avLst>
          </a:prstGeom>
        </p:spPr>
      </p:pic>
      <p:sp>
        <p:nvSpPr>
          <p:cNvPr id="9" name="Rounded Rectangle 8"/>
          <p:cNvSpPr/>
          <p:nvPr/>
        </p:nvSpPr>
        <p:spPr>
          <a:xfrm>
            <a:off x="822960" y="4178807"/>
            <a:ext cx="5117439" cy="19933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1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72654" y="4288535"/>
            <a:ext cx="1218050" cy="1709928"/>
          </a:xfrm>
          <a:prstGeom prst="roundRect">
            <a:avLst>
              <a:gd name="adj" fmla="val 4500"/>
            </a:avLst>
          </a:prstGeom>
        </p:spPr>
      </p:pic>
      <p:sp>
        <p:nvSpPr>
          <p:cNvPr id="11" name="Rounded Rectangle 10"/>
          <p:cNvSpPr/>
          <p:nvPr/>
        </p:nvSpPr>
        <p:spPr>
          <a:xfrm>
            <a:off x="6251295" y="4178807"/>
            <a:ext cx="5117439" cy="19933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1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0883" y="4288535"/>
            <a:ext cx="2398263" cy="1709928"/>
          </a:xfrm>
          <a:prstGeom prst="roundRect">
            <a:avLst>
              <a:gd name="adj" fmla="val 4500"/>
            </a:avLst>
          </a:prstGeom>
        </p:spPr>
      </p:pic>
      <p:sp>
        <p:nvSpPr>
          <p:cNvPr id="13" name="Oval 12"/>
          <p:cNvSpPr/>
          <p:nvPr/>
        </p:nvSpPr>
        <p:spPr>
          <a:xfrm>
            <a:off x="822960" y="6382512"/>
            <a:ext cx="91440" cy="91440"/>
          </a:xfrm>
          <a:prstGeom prst="ellipse">
            <a:avLst/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629107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B6B7A"/>
                </a:solidFill>
                <a:latin typeface="Calibri"/>
              </a:rPr>
              <a:t>Sanctify — Digital Marketing Agency in Goa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39935" y="6291072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B6B7A"/>
                </a:solidFill>
                <a:latin typeface="Calibri"/>
              </a:rPr>
              <a:t>16 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3E69"/>
              </a:gs>
              <a:gs pos="100000">
                <a:srgbClr val="356895"/>
              </a:gs>
            </a:gsLst>
            <a:lin scaled="0" ang="186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39535" y="182880"/>
            <a:ext cx="640080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0" b="1" i="0">
                <a:solidFill>
                  <a:srgbClr val="275D8D"/>
                </a:solidFill>
                <a:latin typeface="Calibri"/>
              </a:rPr>
              <a:t>03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331720"/>
            <a:ext cx="1459382" cy="658368"/>
          </a:xfrm>
          <a:prstGeom prst="roundRect">
            <a:avLst>
              <a:gd name="adj" fmla="val 50000"/>
            </a:avLst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 b="1" spc="60">
                <a:solidFill>
                  <a:srgbClr val="FFFFFF"/>
                </a:solidFill>
                <a:latin typeface="Calibri"/>
              </a:rPr>
              <a:t>TESTIMONIALS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80360"/>
            <a:ext cx="86868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FFFFFF"/>
                </a:solidFill>
                <a:latin typeface="Calibri"/>
              </a:rPr>
              <a:t>What our clients say</a:t>
            </a:r>
          </a:p>
        </p:txBody>
      </p:sp>
      <p:sp>
        <p:nvSpPr>
          <p:cNvPr id="6" name="Rectangle 5"/>
          <p:cNvSpPr/>
          <p:nvPr/>
        </p:nvSpPr>
        <p:spPr>
          <a:xfrm>
            <a:off x="850392" y="4434840"/>
            <a:ext cx="1280160" cy="100584"/>
          </a:xfrm>
          <a:prstGeom prst="rect">
            <a:avLst/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406D"/>
              </a:gs>
              <a:gs pos="100000">
                <a:srgbClr val="3F6F9A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27432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0" b="1" i="0">
                <a:solidFill>
                  <a:srgbClr val="2E9CCA"/>
                </a:solidFill>
                <a:latin typeface="Calibri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2057400"/>
            <a:ext cx="9326880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Their expertise in SEO and social media helped us rank higher and win more customers — professional, responsive, and truly tuned to the local market.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00200" y="5349240"/>
            <a:ext cx="3349364" cy="768096"/>
          </a:xfrm>
          <a:prstGeom prst="roundRect">
            <a:avLst>
              <a:gd name="adj" fmla="val 50000"/>
            </a:avLst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300" b="1" spc="60">
                <a:solidFill>
                  <a:srgbClr val="FFFFFF"/>
                </a:solidFill>
                <a:latin typeface="Calibri"/>
              </a:rPr>
              <a:t>Benz Nx — SEO &amp; SMM services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406D"/>
              </a:gs>
              <a:gs pos="100000">
                <a:srgbClr val="3F6F9A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27432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0" b="1" i="0">
                <a:solidFill>
                  <a:srgbClr val="2E9CCA"/>
                </a:solidFill>
                <a:latin typeface="Calibri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2057400"/>
            <a:ext cx="9326880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They built our website and now run our social media — we're very happy with the results, and the team answers every query with real patience.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00200" y="5349240"/>
            <a:ext cx="4090693" cy="768096"/>
          </a:xfrm>
          <a:prstGeom prst="roundRect">
            <a:avLst>
              <a:gd name="adj" fmla="val 50000"/>
            </a:avLst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300" b="1" spc="60">
                <a:solidFill>
                  <a:srgbClr val="FFFFFF"/>
                </a:solidFill>
                <a:latin typeface="Calibri"/>
              </a:rPr>
              <a:t>Pawan Raj — Web &amp; digital marketing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454335" y="0"/>
            <a:ext cx="1737360" cy="146304"/>
          </a:xfrm>
          <a:prstGeom prst="rect">
            <a:avLst/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5775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F4C81"/>
                </a:solidFill>
                <a:latin typeface="Calibri"/>
              </a:rPr>
              <a:t>Why businesses in Goa choose Sanctify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35024"/>
            <a:ext cx="822960" cy="73152"/>
          </a:xfrm>
          <a:prstGeom prst="rect">
            <a:avLst/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2039112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5024" y="1947672"/>
            <a:ext cx="9759391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b="1" sz="2000">
                <a:solidFill>
                  <a:srgbClr val="2E9CCA"/>
                </a:solidFill>
                <a:latin typeface="Calibri"/>
              </a:rPr>
              <a:t>Local  </a:t>
            </a:r>
            <a:r>
              <a:rPr sz="2000" b="0">
                <a:solidFill>
                  <a:srgbClr val="1C2A36"/>
                </a:solidFill>
                <a:latin typeface="Calibri"/>
              </a:rPr>
              <a:t>Over a decade of local expertise in the Goa market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953512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0F4C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35024" y="2862072"/>
            <a:ext cx="9759391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b="1" sz="2000">
                <a:solidFill>
                  <a:srgbClr val="2E9CCA"/>
                </a:solidFill>
                <a:latin typeface="Calibri"/>
              </a:rPr>
              <a:t>Transparent  </a:t>
            </a:r>
            <a:r>
              <a:rPr sz="2000" b="0">
                <a:solidFill>
                  <a:srgbClr val="1C2A36"/>
                </a:solidFill>
                <a:latin typeface="Calibri"/>
              </a:rPr>
              <a:t>Transparent, measurable results you can track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867912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5BC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35024" y="3776472"/>
            <a:ext cx="9759391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b="1" sz="2000">
                <a:solidFill>
                  <a:srgbClr val="2E9CCA"/>
                </a:solidFill>
                <a:latin typeface="Calibri"/>
              </a:rPr>
              <a:t>Full-suite  </a:t>
            </a:r>
            <a:r>
              <a:rPr sz="2000" b="0">
                <a:solidFill>
                  <a:srgbClr val="1C2A36"/>
                </a:solidFill>
                <a:latin typeface="Calibri"/>
              </a:rPr>
              <a:t>SEO, web design and PPC under one roof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782312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35024" y="4690872"/>
            <a:ext cx="9759391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b="1" sz="2000">
                <a:solidFill>
                  <a:srgbClr val="2E9CCA"/>
                </a:solidFill>
                <a:latin typeface="Calibri"/>
              </a:rPr>
              <a:t>ROI-first  </a:t>
            </a:r>
            <a:r>
              <a:rPr sz="2000" b="0">
                <a:solidFill>
                  <a:srgbClr val="1C2A36"/>
                </a:solidFill>
                <a:latin typeface="Calibri"/>
              </a:rPr>
              <a:t>A creative, results-driven approach focused on ROI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6382512"/>
            <a:ext cx="91440" cy="91440"/>
          </a:xfrm>
          <a:prstGeom prst="ellipse">
            <a:avLst/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629107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B6B7A"/>
                </a:solidFill>
                <a:latin typeface="Calibri"/>
              </a:rPr>
              <a:t>Sanctify — Digital Marketing Agency in Goa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39935" y="6291072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B6B7A"/>
                </a:solidFill>
                <a:latin typeface="Calibri"/>
              </a:rPr>
              <a:t>20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3960"/>
              </a:gs>
              <a:gs pos="100000">
                <a:srgbClr val="306592"/>
              </a:gs>
            </a:gsLst>
            <a:lin scaled="0" ang="183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645920" y="4114800"/>
            <a:ext cx="4206240" cy="4206240"/>
          </a:xfrm>
          <a:prstGeom prst="ellipse">
            <a:avLst/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828800"/>
            <a:ext cx="1459382" cy="658368"/>
          </a:xfrm>
          <a:prstGeom prst="roundRect">
            <a:avLst>
              <a:gd name="adj" fmla="val 50000"/>
            </a:avLst>
          </a:prstGeom>
          <a:solidFill>
            <a:srgbClr val="356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 b="1" spc="60">
                <a:solidFill>
                  <a:srgbClr val="FFFFFF"/>
                </a:solidFill>
                <a:latin typeface="Calibri"/>
              </a:rPr>
              <a:t>GET IN TOUCH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058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i="0">
                <a:solidFill>
                  <a:srgbClr val="FFFFFF"/>
                </a:solidFill>
                <a:latin typeface="Calibri"/>
              </a:rPr>
              <a:t>Let's grow your brand</a:t>
            </a:r>
          </a:p>
        </p:txBody>
      </p:sp>
      <p:sp>
        <p:nvSpPr>
          <p:cNvPr id="6" name="Rectangle 5"/>
          <p:cNvSpPr/>
          <p:nvPr/>
        </p:nvSpPr>
        <p:spPr>
          <a:xfrm>
            <a:off x="850392" y="4023360"/>
            <a:ext cx="1280160" cy="100584"/>
          </a:xfrm>
          <a:prstGeom prst="rect">
            <a:avLst/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F2F2F2"/>
                </a:solidFill>
                <a:latin typeface="Calibri"/>
              </a:rPr>
              <a:t>www.sanctify.in  ·  Advertising &amp; Digital Marketing Agency, Goa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5943600"/>
            <a:ext cx="109728" cy="109728"/>
          </a:xfrm>
          <a:prstGeom prst="ellipse">
            <a:avLst/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5943600"/>
            <a:ext cx="109728" cy="109728"/>
          </a:xfrm>
          <a:prstGeom prst="ellipse">
            <a:avLst/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43584" y="5943600"/>
            <a:ext cx="109728" cy="109728"/>
          </a:xfrm>
          <a:prstGeom prst="ellipse">
            <a:avLst/>
          </a:prstGeom>
          <a:solidFill>
            <a:srgbClr val="2E9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